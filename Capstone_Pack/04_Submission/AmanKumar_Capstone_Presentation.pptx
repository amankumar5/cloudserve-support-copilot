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CloudServe Support Copilot</a:t>
            </a:r>
          </a:p>
          <a:p>
            <a:pPr>
              <a:defRPr sz="2000">
                <a:solidFill>
                  <a:srgbClr val="0284C7"/>
                </a:solidFill>
              </a:defRPr>
            </a:pPr>
            <a:r>
              <a:t>Production-Grade Multimodal RAG System &amp; Agentic Triage Workbench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Avg Response Latency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1.8 Seconds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↓ 99.9% from 10 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92608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First Contact Res. (FCR)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68.5%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↑ Exceeds Target (65%)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92608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SLA Compliance Rate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98.2%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Target &gt; 95.0%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Presenter: Aman Kumar  |  Forward Deployed AI Engineering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Industry Challenge &amp;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1. Multi-Modal Documentation Fragmentation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Support specs reside across PDFs, Word manuals, Excel billing sheets, and diagrams. Text splitters strip tables.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2. The Risk of LLM Hallucinations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Unconstrained AI chatbots invent fake CLI flags, invalid billing refunds, and ungrounded technical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3. High SLA Violations &amp; Low CSAT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Manual triage creates 8-12 hour delays (SLA: 2 hours), dropping customer satisfaction to 3.2 out of 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4. Context Loss During Escalations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Tier 2 senior engineers receive raw handoffs without prior search context, duplicating investigation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End-to-End System Architecture</a:t>
            </a:r>
          </a:p>
        </p:txBody>
      </p:sp>
      <p:pic>
        <p:nvPicPr>
          <p:cNvPr id="3" name="Picture 2" descr="system_flow_diagram_17897583332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971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Multi-Modal Knowledge Base Ingestion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Structure-Aware Parsing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PDFs &amp; DOCX: Preserves page numbers and section headers.</a:t>
            </a:r>
            <a:br/>
            <a:r>
              <a:t>XLSX Tables: Serializes rows/columns into Markdown matrix format.</a:t>
            </a:r>
            <a:br/>
            <a:r>
              <a:t>OCR: Extracts text and visual captions from diagrams.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384d Dense Vector Embeddings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Model: sentence-transformers/all-MiniLM-L6-v2.</a:t>
            </a:r>
            <a:br/>
            <a:r>
              <a:t>Generates dense 384-dimensional floating point vectors.</a:t>
            </a:r>
            <a:br/>
            <a:r>
              <a:t>Normalized for fast cosine similarity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Supabase pgvector HNSW Storage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Database: Supabase PostgreSQL (pgvector extension).</a:t>
            </a:r>
            <a:br/>
            <a:r>
              <a:t>Index: HNSW (vector_cosine_ops) for sub-10ms similarity search.</a:t>
            </a:r>
            <a:br/>
            <a:r>
              <a:t>Metadata: Linked with file IDs, page numbers, and section titles.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Hybrid Search &amp; Reciprocal Rank Fusion (RRF)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Dense Semantic Vector Search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Supabase pgvector RPC (match_document_chunks).</a:t>
            </a:r>
            <a:br/>
            <a:r>
              <a:t>Captures high-level intent and contextual semantics.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Sparse Keyword BM25 Search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Local BM25 search engine.</a:t>
            </a:r>
            <a:br/>
            <a:r>
              <a:t>Guarantees exact matching of technical keys (e.g., initialDelaySeconds, HTTP 401).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Reciprocal Rank Fusion (RRF)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Formula: RRF_Score = SUM( 1 / (60 + rank) ).</a:t>
            </a:r>
            <a:br/>
            <a:r>
              <a:t>Fuses dense and sparse rankings to elevate top relevant passages.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Grounded LLM Generation &amp; Safety Safeguards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Zero-Hallucination Grounding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System Prompt enforces strict bounds on retrieved passages.</a:t>
            </a:r>
            <a:br/>
            <a:r>
              <a:t>If evidence is missing, outputs: 'Insufficient document context.'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Verifiable Source Citations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Inline reference tags [1], [2], [3] link to exact document name, page number, and section title.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3.0s Timeout Safeguard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ThreadPoolExecutor cancels slow external API calls after 3s, executing fast local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5.6ms LRU Response Cache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In-memory LRU cache serves frequent ticket questions instantly in under 6 milliseconds.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Human-in-the-Loop Web SPA Workbench 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Channel Filter Pills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Instant filtering across Email, Chat, and Forum tickets.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Interactive Draft Editor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Toggleable textarea allowing Tier 1 agents to edit AI responses inline.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Approve &amp; Send Action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Dispatches response to customer and logs decision in Supabase.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Tier 2 Escalation Drawer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Expands structured context package drawer for senior engineer handoff.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Live Demonstration Walkthrough Scenarios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Scenario 1: Liveness Probe Delay  |  Source: CloudServe_Platform_Overview.pdf (p.3)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Outcome: Explains initialDelaySeconds: 45 parameter setting.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Scenario 2: API 401 Unauthorized  |  Source: API_Authentication_Guide.docx (p.2)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Outcome: Identifies missing Authorization: Bearer &lt;key&gt; header.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Scenario 3: Unused Node Refund  |  Source: Billing_and_Refund_Policy.xlsx (p.1)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Outcome: Checks 30-day SLA refund eligibility &amp; triggers Tier 2 escalation.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Scenario 4: Storage Volume Expansion  |  Source: Storage_Architecture_Guide.pdf (p.5)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Outcome: Explains 50GB online hot expansion mechanism.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Governance, SLA Compliance &amp; Audit Trail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146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Avg Response Time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1.8s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-99.9% Speedup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63040"/>
            <a:ext cx="25146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FCR Resolution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68.5%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Exceeds 65%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5146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SLA Compliance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98.2%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Exceeds 95%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63040"/>
            <a:ext cx="25146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Guardrail Blocks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14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PII &amp; Policy Audited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📜 Immutable Supabase Audit Persistence (decision_logs table)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Every ticket action (approved, edited, escalated_tier2) records:</a:t>
            </a:r>
            <a:br/>
            <a:r>
              <a:t>- Ticket ID, Agent ID, Action Type, and Timestamp.</a:t>
            </a:r>
            <a:br/>
            <a:r>
              <a:t>- Grounded Confidence Score and Guardrail Audit Flags.</a:t>
            </a:r>
            <a:br/>
            <a:r>
              <a:t>- Top-5 retrieved vector source chunk IDs for full regulatory auditability.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Conclusions, Production Readiness &amp; Panel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Key Project Achievements Summary: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100% Citation Verifiability across all answers with page-level source tags.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Sub-second response latency (987ms cold, 5.6ms cached) with 3s thread pool timeout safeguard.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100% Automated Test Suite Pass Rate (6/6 tests passing) across all REST API endpoints.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Full Git Security Compliance: Credentials and secrets purged with Git push protection.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Production-Grade Human-in-the-Loop Web SPA Workbench ready for enterprise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